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5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6/20/2024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6/20/2024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6/20/2024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6/20/2024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98219" y="726925"/>
            <a:ext cx="8574622" cy="2616199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CEF 440</a:t>
            </a:r>
            <a:r>
              <a:rPr lang="en-US" dirty="0" smtClean="0"/>
              <a:t>: INTERNET PROGRAMMING(J2EE) AND MOBILE PROGRAMMING</a:t>
            </a:r>
            <a:br>
              <a:rPr lang="en-US" dirty="0" smtClean="0"/>
            </a:br>
            <a:r>
              <a:rPr lang="en-US" b="1" dirty="0" smtClean="0"/>
              <a:t>GROUP 16 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pPr algn="ctr"/>
            <a:r>
              <a:rPr lang="en-US" sz="1800" b="1" dirty="0" smtClean="0">
                <a:latin typeface="Arial Narrow" panose="020B0606020202030204" pitchFamily="34" charset="0"/>
              </a:rPr>
              <a:t>        </a:t>
            </a:r>
            <a:r>
              <a:rPr lang="en-US" sz="1800" b="1" u="sng" dirty="0" smtClean="0">
                <a:latin typeface="Arial Black" panose="020B0A04020102020204" pitchFamily="34" charset="0"/>
              </a:rPr>
              <a:t>PRESENTED BY:  </a:t>
            </a:r>
          </a:p>
          <a:p>
            <a:pPr algn="ctr"/>
            <a:r>
              <a:rPr lang="en-US" sz="1800" b="1" u="sng" dirty="0" smtClean="0">
                <a:latin typeface="Arial Black" panose="020B0A04020102020204" pitchFamily="34" charset="0"/>
              </a:rPr>
              <a:t>       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b="1" dirty="0" smtClean="0">
                <a:latin typeface="Arial Narrow" panose="020B0606020202030204" pitchFamily="34" charset="0"/>
              </a:rPr>
              <a:t>AJAMAH GODLOVE NKEMEJAH           FE21A129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b="1" dirty="0" smtClean="0">
                <a:latin typeface="Arial Narrow" panose="020B0606020202030204" pitchFamily="34" charset="0"/>
              </a:rPr>
              <a:t>AMABO JOSHUA NGWA                        FE21A135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b="1" dirty="0" smtClean="0">
                <a:latin typeface="Arial Narrow" panose="020B0606020202030204" pitchFamily="34" charset="0"/>
              </a:rPr>
              <a:t>MBACHAM LOANA NING                       FE21A228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b="1" dirty="0" smtClean="0">
                <a:latin typeface="Arial Narrow" panose="020B0606020202030204" pitchFamily="34" charset="0"/>
              </a:rPr>
              <a:t>NGOUNG TASSA ALAIN SHIRESS        FE21A262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b="1" dirty="0" smtClean="0">
                <a:latin typeface="Arial Narrow" panose="020B0606020202030204" pitchFamily="34" charset="0"/>
              </a:rPr>
              <a:t>NYUYSERVER BORIS DINNYUY           FE21A295     </a:t>
            </a:r>
            <a:endParaRPr lang="en-US" sz="1800" b="1" dirty="0">
              <a:latin typeface="Arial Narrow" panose="020B0606020202030204" pitchFamily="34" charset="0"/>
            </a:endParaRPr>
          </a:p>
        </p:txBody>
      </p:sp>
      <p:sp>
        <p:nvSpPr>
          <p:cNvPr id="4" name="Oval 3"/>
          <p:cNvSpPr/>
          <p:nvPr/>
        </p:nvSpPr>
        <p:spPr>
          <a:xfrm>
            <a:off x="483326" y="5826034"/>
            <a:ext cx="1685108" cy="8752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TASK 6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5837240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80114" y="822960"/>
            <a:ext cx="35269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Arial Narrow" panose="020B0606020202030204" pitchFamily="34" charset="0"/>
              </a:rPr>
              <a:t>TABLE OF CONTENTS</a:t>
            </a:r>
            <a:endParaRPr lang="en-US" sz="2800" b="1" dirty="0">
              <a:latin typeface="Arial Narrow" panose="020B060602020203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436914" y="1463040"/>
            <a:ext cx="2743200" cy="161979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dirty="0" smtClean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chemeClr val="tx1"/>
                </a:solidFill>
              </a:rPr>
              <a:t>01</a:t>
            </a:r>
          </a:p>
          <a:p>
            <a:pPr algn="ctr"/>
            <a:r>
              <a:rPr lang="en-US" sz="2800" dirty="0" smtClean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chemeClr val="tx1"/>
                </a:solidFill>
              </a:rPr>
              <a:t>INTRODUCTION</a:t>
            </a:r>
            <a:endParaRPr lang="en-US" sz="2800" dirty="0"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225141" y="1463393"/>
            <a:ext cx="2664823" cy="161979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 smtClean="0"/>
              <a:t>02</a:t>
            </a:r>
          </a:p>
          <a:p>
            <a:pPr algn="ctr"/>
            <a:r>
              <a:rPr lang="en-US" sz="2800" b="1" dirty="0" smtClean="0"/>
              <a:t>REQUIREMENT ANALYSIS</a:t>
            </a:r>
            <a:endParaRPr lang="en-US" sz="2800" b="1" dirty="0"/>
          </a:p>
        </p:txBody>
      </p:sp>
      <p:sp>
        <p:nvSpPr>
          <p:cNvPr id="7" name="Rectangle 6"/>
          <p:cNvSpPr/>
          <p:nvPr/>
        </p:nvSpPr>
        <p:spPr>
          <a:xfrm>
            <a:off x="8739051" y="1449977"/>
            <a:ext cx="2651760" cy="163285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 smtClean="0"/>
              <a:t>03</a:t>
            </a:r>
          </a:p>
          <a:p>
            <a:pPr algn="ctr"/>
            <a:r>
              <a:rPr lang="en-US" sz="2400" b="1" dirty="0" smtClean="0"/>
              <a:t>CONCEPTUAL MODEL DESIGN</a:t>
            </a:r>
            <a:endParaRPr lang="en-US" sz="2400" b="1" dirty="0"/>
          </a:p>
        </p:txBody>
      </p:sp>
      <p:sp>
        <p:nvSpPr>
          <p:cNvPr id="8" name="Rectangle 7"/>
          <p:cNvSpPr/>
          <p:nvPr/>
        </p:nvSpPr>
        <p:spPr>
          <a:xfrm>
            <a:off x="1476101" y="3696788"/>
            <a:ext cx="2717075" cy="172429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 smtClean="0"/>
              <a:t>04</a:t>
            </a:r>
          </a:p>
          <a:p>
            <a:pPr algn="ctr"/>
            <a:r>
              <a:rPr lang="en-US" sz="2800" b="1" dirty="0" smtClean="0"/>
              <a:t>LOGICAL DESIGN</a:t>
            </a:r>
            <a:endParaRPr lang="en-US" sz="2800" b="1" dirty="0"/>
          </a:p>
        </p:txBody>
      </p:sp>
      <p:sp>
        <p:nvSpPr>
          <p:cNvPr id="9" name="Rectangle 8"/>
          <p:cNvSpPr/>
          <p:nvPr/>
        </p:nvSpPr>
        <p:spPr>
          <a:xfrm>
            <a:off x="8552907" y="3827416"/>
            <a:ext cx="2589711" cy="159367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 smtClean="0"/>
              <a:t>06</a:t>
            </a:r>
          </a:p>
          <a:p>
            <a:pPr algn="ctr"/>
            <a:r>
              <a:rPr lang="en-US" sz="2800" b="1" dirty="0" smtClean="0"/>
              <a:t>CONCLUSION</a:t>
            </a:r>
            <a:endParaRPr lang="en-US" sz="2800" b="1" dirty="0"/>
          </a:p>
        </p:txBody>
      </p:sp>
      <p:sp>
        <p:nvSpPr>
          <p:cNvPr id="4" name="Rectangle 3"/>
          <p:cNvSpPr/>
          <p:nvPr/>
        </p:nvSpPr>
        <p:spPr>
          <a:xfrm>
            <a:off x="4611188" y="3827416"/>
            <a:ext cx="3592286" cy="168511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 smtClean="0"/>
              <a:t>05</a:t>
            </a:r>
          </a:p>
          <a:p>
            <a:pPr algn="ctr"/>
            <a:r>
              <a:rPr lang="en-US" sz="3200" b="1" dirty="0" smtClean="0"/>
              <a:t>IMPLEMENTATION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4098288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725989" y="5826034"/>
            <a:ext cx="3344091" cy="90133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01: </a:t>
            </a:r>
            <a:r>
              <a:rPr lang="en-US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lgerian" panose="04020705040A02060702" pitchFamily="82" charset="0"/>
              </a:rPr>
              <a:t>INTRODUCTION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lgerian" panose="04020705040A02060702" pitchFamily="82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2612571" y="757646"/>
            <a:ext cx="8425543" cy="408867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atin typeface="Arial Rounded MT Bold" panose="020F0704030504030204" pitchFamily="34" charset="0"/>
              </a:rPr>
              <a:t>This report presents a comprehensive design for an attendance management system that uses fingerprint authentication to track student attendance. The design process includes various stages: requirement analysis, conceptual design, logical design, physical design considerations, and normalization. Each stage is discussed in detail to ensure clarity and completeness</a:t>
            </a:r>
            <a:r>
              <a:rPr lang="en-US" dirty="0" smtClean="0"/>
              <a:t>.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400048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/>
          <p:cNvSpPr/>
          <p:nvPr/>
        </p:nvSpPr>
        <p:spPr>
          <a:xfrm>
            <a:off x="8530046" y="5839097"/>
            <a:ext cx="3661954" cy="101890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1.1: </a:t>
            </a:r>
            <a:r>
              <a:rPr lang="en-US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lgerian" panose="04020705040A02060702" pitchFamily="82" charset="0"/>
              </a:rPr>
              <a:t>DEFINITION OF KEY TERMS</a:t>
            </a:r>
            <a:endParaRPr lang="en-US" dirty="0">
              <a:latin typeface="Algerian" panose="04020705040A02060702" pitchFamily="82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969623" y="531623"/>
            <a:ext cx="6096000" cy="5493812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</a:pP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Database: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 database is a structured collection of data that is stored and accessed electronically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</a:pP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Entity: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 entity is an object or concept about which data is stored in a 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database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</a:pP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Attribute: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 attribute is a property or characteristic of an entity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</a:pP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Primary Key (PK):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 primary key is a unique identifier for a record in a database table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</a:pP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Foreign Key (FK):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 foreign key is an attribute that creates a relationship between two tables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"/>
            </a:pP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ER Diagram (Entity-Relationship Diagram):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 ER diagram is a visual representation of the entities in a database and their 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relationships.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3799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817429" y="5577840"/>
            <a:ext cx="3374571" cy="11887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02: </a:t>
            </a:r>
            <a:r>
              <a:rPr lang="en-US" sz="24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lgerian" panose="04020705040A02060702" pitchFamily="82" charset="0"/>
              </a:rPr>
              <a:t>REQUIREMENT ANALYSIS</a:t>
            </a:r>
            <a:endParaRPr lang="en-US" sz="2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lgerian" panose="04020705040A02060702" pitchFamily="82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048000" y="838548"/>
            <a:ext cx="6096000" cy="518090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main requirements for the attendance management system include: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User Management: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Managing different types of users (students, lecturers, administrators).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Attendance Tracking: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Tracking student attendance in various courses.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Fingerprint Authentication: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Using fingerprint data to authenticate users.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Course Management: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Managing courses and their respective departments.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"/>
            </a:pP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Administrative Functions: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Enabling administrators to manage users and generate reports.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4564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/>
          <p:cNvSpPr/>
          <p:nvPr/>
        </p:nvSpPr>
        <p:spPr>
          <a:xfrm>
            <a:off x="8686801" y="5669281"/>
            <a:ext cx="3505200" cy="10319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2.1:</a:t>
            </a:r>
            <a:r>
              <a:rPr lang="en-US" sz="24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lgerian" panose="04020705040A02060702" pitchFamily="82" charset="0"/>
              </a:rPr>
              <a:t>DATABASE REQUIREMENTS</a:t>
            </a:r>
            <a:endParaRPr lang="en-US" sz="2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lgerian" panose="04020705040A02060702" pitchFamily="82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346486" y="344379"/>
            <a:ext cx="3863237" cy="190821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Some Database Requirements are;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Security</a:t>
            </a:r>
          </a:p>
          <a:p>
            <a:endParaRPr lang="en-US" sz="2000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</a:t>
            </a:r>
          </a:p>
          <a:p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191692" y="2375704"/>
            <a:ext cx="6096000" cy="4303742"/>
          </a:xfrm>
          <a:prstGeom prst="rect">
            <a:avLst/>
          </a:prstGeom>
        </p:spPr>
        <p:txBody>
          <a:bodyPr>
            <a:spAutoFit/>
          </a:bodyPr>
          <a:lstStyle/>
          <a:p>
            <a:pPr marL="228600" marR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B. Key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entities identified from these requirements are:</a:t>
            </a: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User</a:t>
            </a: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FingerprintData</a:t>
            </a: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Admin</a:t>
            </a: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Student</a:t>
            </a: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Lecturer</a:t>
            </a: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Department</a:t>
            </a: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Course</a:t>
            </a: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AttendanceRecord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48054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/>
          <p:cNvSpPr/>
          <p:nvPr/>
        </p:nvSpPr>
        <p:spPr>
          <a:xfrm>
            <a:off x="8138160" y="5943600"/>
            <a:ext cx="405384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03: </a:t>
            </a:r>
            <a:r>
              <a:rPr lang="en-US" sz="24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lgerian" panose="04020705040A02060702" pitchFamily="82" charset="0"/>
              </a:rPr>
              <a:t>CONCEPTUAL DESIGN </a:t>
            </a:r>
            <a:endParaRPr lang="en-US" sz="2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lgerian" panose="04020705040A02060702" pitchFamily="82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225040" y="218943"/>
            <a:ext cx="6096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</a:rPr>
              <a:t>The conceptual design phase involves creating a 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high level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</a:rPr>
              <a:t>data model, often represented as an ER diagram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. This ER Diagram is shown below. </a:t>
            </a:r>
            <a:endParaRPr lang="en-US" sz="2000" dirty="0"/>
          </a:p>
        </p:txBody>
      </p:sp>
      <p:pic>
        <p:nvPicPr>
          <p:cNvPr id="5" name="Picture 4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29" r="10213" b="8425"/>
          <a:stretch/>
        </p:blipFill>
        <p:spPr bwMode="auto">
          <a:xfrm>
            <a:off x="1755412" y="1234606"/>
            <a:ext cx="9348016" cy="461300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8721087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647611" y="5721531"/>
            <a:ext cx="3448595" cy="101890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04: </a:t>
            </a:r>
            <a:r>
              <a:rPr lang="en-US" sz="28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lgerian" panose="04020705040A02060702" pitchFamily="82" charset="0"/>
              </a:rPr>
              <a:t>LOGICAL DESIGN</a:t>
            </a:r>
            <a:endParaRPr lang="en-US" sz="2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lgerian" panose="04020705040A02060702" pitchFamily="82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669176" y="454074"/>
            <a:ext cx="6096000" cy="612475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-The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logical design phase involves translating the conceptual model into a relational schema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endParaRPr lang="en-US" sz="2000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-We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 the following features in our relational schema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Each entity becomes a table (User,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FingerprintData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Department, etc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.)</a:t>
            </a:r>
          </a:p>
          <a:p>
            <a:pPr lvl="0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Keys (PK):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Each table has a unique identifier (e.g.,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studentId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Student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lvl="0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Foreign Keys (FK):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Relationships are established using foreign keys. For example,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AttendanceRecord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references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studentId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(Student) and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courseId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(Course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lvl="0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Below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diagram representing the relational schema:</a:t>
            </a:r>
          </a:p>
          <a:p>
            <a:pPr lvl="0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53813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1883" y="204652"/>
            <a:ext cx="8838928" cy="648353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357008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490857" y="5982789"/>
            <a:ext cx="3540034" cy="77070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4.1: </a:t>
            </a:r>
            <a:r>
              <a:rPr lang="en-US" sz="24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lgerian" panose="04020705040A02060702" pitchFamily="82" charset="0"/>
              </a:rPr>
              <a:t>PHYSICAL DESIGN</a:t>
            </a:r>
            <a:endParaRPr lang="en-US" sz="2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lgerian" panose="04020705040A02060702" pitchFamily="82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754778" y="0"/>
            <a:ext cx="6905896" cy="64222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logical schema is further defined for a </a:t>
            </a:r>
            <a:r>
              <a:rPr lang="en-US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specific DBMS;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US" b="1" dirty="0" err="1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Types:</a:t>
            </a:r>
            <a:r>
              <a:rPr lang="en-US" dirty="0" err="1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VARCHAR</a:t>
            </a:r>
            <a:r>
              <a:rPr lang="en-US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names, DATE for attendance </a:t>
            </a:r>
            <a:r>
              <a:rPr lang="en-US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date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Constraints</a:t>
            </a:r>
            <a:r>
              <a:rPr lang="en-US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CHECK constraints to ensure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boolean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values in </a:t>
            </a:r>
            <a:r>
              <a:rPr lang="en-US" dirty="0" err="1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AttendanceRecord.status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Indexes: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studentId</a:t>
            </a:r>
            <a:r>
              <a:rPr lang="en-US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dirty="0" err="1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AttendanceRecord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Security: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The following key points are noted during security </a:t>
            </a:r>
            <a:r>
              <a:rPr lang="en-US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analysis;</a:t>
            </a: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Fingerprint Storage:</a:t>
            </a:r>
            <a:r>
              <a:rPr lang="en-US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Fingerprint data should be stored using a one-way hashing function that creates a unique identifier (template) from the fingerprint data.</a:t>
            </a:r>
            <a:endParaRPr lang="en-US" sz="16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Encryption:</a:t>
            </a:r>
            <a:r>
              <a:rPr lang="en-US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Sensitive data fields, such as password and contact information, should be encrypted at rest and in transit.</a:t>
            </a:r>
            <a:endParaRPr lang="en-US" sz="16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</a:pPr>
            <a:r>
              <a:rPr lang="en-US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Access Control:</a:t>
            </a:r>
            <a:r>
              <a:rPr lang="en-US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Grant access to attendance data only to authorized personnel (lecturers, administrators).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88826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242663" y="5590903"/>
            <a:ext cx="3949337" cy="126709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05: </a:t>
            </a:r>
            <a:r>
              <a:rPr lang="en-US" sz="24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lgerian" panose="04020705040A02060702" pitchFamily="82" charset="0"/>
              </a:rPr>
              <a:t>IMPLEMENTATION</a:t>
            </a:r>
            <a:endParaRPr lang="en-US" sz="2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lgerian" panose="04020705040A02060702" pitchFamily="82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189263" y="604923"/>
            <a:ext cx="4434068" cy="56015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-We 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Firebase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for our database </a:t>
            </a:r>
            <a:r>
              <a:rPr lang="en-US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implementation.</a:t>
            </a:r>
          </a:p>
          <a:p>
            <a:endParaRPr lang="en-US" sz="2000" dirty="0" smtClean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Some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main functionality it provides to developers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includes;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File storage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ser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rash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reporting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tools</a:t>
            </a:r>
          </a:p>
          <a:p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Firebase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Realtime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Database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cloud-hosted NoSQL database that enables easy real-time syncing of data between clients.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-Below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the different collections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created;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81606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372163" y="235942"/>
            <a:ext cx="2463367" cy="5799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User collection</a:t>
            </a:r>
            <a:endParaRPr lang="en-US" sz="24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2624" y="1175658"/>
            <a:ext cx="8102873" cy="49769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902283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308761" y="327382"/>
            <a:ext cx="278217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R="0" lvl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 Admin 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collection</a:t>
            </a:r>
            <a:endParaRPr lang="en-US" sz="2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3213099" y="1188721"/>
            <a:ext cx="8203838" cy="5172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6875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46789" y="301256"/>
            <a:ext cx="304128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R="0" lvl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 Lecturer 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collection</a:t>
            </a:r>
            <a:endParaRPr lang="en-US" sz="2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3228975" y="1175657"/>
            <a:ext cx="8122648" cy="512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4260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67696" y="275131"/>
            <a:ext cx="2919389" cy="5871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R="0" lvl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  Student 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collection</a:t>
            </a:r>
            <a:endParaRPr lang="en-US" sz="2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3225800" y="1201783"/>
            <a:ext cx="7903754" cy="505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8159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70598" y="196754"/>
            <a:ext cx="4337085" cy="5871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R="0" lvl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5.  </a:t>
            </a:r>
            <a:r>
              <a:rPr lang="en-US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AttendanceRecord</a:t>
            </a:r>
            <a:r>
              <a:rPr 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collection</a:t>
            </a:r>
            <a:endParaRPr lang="en-US" sz="2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3219450" y="1071154"/>
            <a:ext cx="7910104" cy="500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0390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80280" y="235942"/>
            <a:ext cx="2832827" cy="5871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R="0" lvl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6.  Course 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collection</a:t>
            </a:r>
            <a:endParaRPr lang="en-US" sz="2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5799" y="1018903"/>
            <a:ext cx="8008258" cy="49769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693741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05964" y="222879"/>
            <a:ext cx="3568606" cy="5871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R="0" lvl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7.  Department Collection</a:t>
            </a:r>
            <a:endParaRPr lang="en-US" sz="2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8975" y="1031967"/>
            <a:ext cx="8057334" cy="526433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919349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96482" y="170628"/>
            <a:ext cx="4148893" cy="5871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R="0" lvl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8.  </a:t>
            </a:r>
            <a:r>
              <a:rPr lang="en-US" sz="2400" b="1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FingerprintData</a:t>
            </a:r>
            <a:r>
              <a:rPr 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Collection</a:t>
            </a:r>
            <a:endParaRPr lang="en-US" sz="2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6749" y="1045029"/>
            <a:ext cx="8171000" cy="536883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680755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098971" y="5656217"/>
            <a:ext cx="3958046" cy="10450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06: </a:t>
            </a:r>
            <a:r>
              <a:rPr lang="en-US" sz="24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lgerian" panose="04020705040A02060702" pitchFamily="82" charset="0"/>
                <a:cs typeface="Times New Roman" panose="02020603050405020304" pitchFamily="18" charset="0"/>
              </a:rPr>
              <a:t>CONCLUSION</a:t>
            </a:r>
            <a:endParaRPr lang="en-US" sz="2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lgerian" panose="04020705040A02060702" pitchFamily="82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643051" y="329759"/>
            <a:ext cx="6514011" cy="53264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Our presentation provides a comprehensive database design for an attendance management system. By following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systematic design 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process, including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requirement analysis, conceptual design, logical design, and 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normalization. The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resulting database schema ensures efficient, secure, and organized management of student attendance. </a:t>
            </a:r>
            <a:endParaRPr lang="en-US" sz="2000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</a:pP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Also the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detailed relational schema and ER diagram provide a clear roadmap for implementing the database. This design forms a robust foundation for developing a functional and reliable attendance management system.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477413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158</TotalTime>
  <Words>736</Words>
  <Application>Microsoft Office PowerPoint</Application>
  <PresentationFormat>Widescreen</PresentationFormat>
  <Paragraphs>101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1" baseType="lpstr">
      <vt:lpstr>Algerian</vt:lpstr>
      <vt:lpstr>Arial</vt:lpstr>
      <vt:lpstr>Arial Black</vt:lpstr>
      <vt:lpstr>Arial Narrow</vt:lpstr>
      <vt:lpstr>Arial Rounded MT Bold</vt:lpstr>
      <vt:lpstr>Calibri</vt:lpstr>
      <vt:lpstr>Corbel</vt:lpstr>
      <vt:lpstr>Symbol</vt:lpstr>
      <vt:lpstr>Times New Roman</vt:lpstr>
      <vt:lpstr>Wingdings</vt:lpstr>
      <vt:lpstr>Parallax</vt:lpstr>
      <vt:lpstr>CEF 440: INTERNET PROGRAMMING(J2EE) AND MOBILE PROGRAMMING GROUP 16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CEF 440: INTERNET PROGRAMMING(J2EE) AND MOBILE PROGRAMMING</dc:title>
  <dc:creator>TOSHIBA</dc:creator>
  <cp:lastModifiedBy>TOSHIBA</cp:lastModifiedBy>
  <cp:revision>29</cp:revision>
  <dcterms:created xsi:type="dcterms:W3CDTF">2024-06-20T15:26:27Z</dcterms:created>
  <dcterms:modified xsi:type="dcterms:W3CDTF">2024-06-20T21:46:59Z</dcterms:modified>
</cp:coreProperties>
</file>