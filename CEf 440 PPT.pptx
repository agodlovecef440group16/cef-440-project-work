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media/image8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SHIBA" initials="T" lastIdx="0" clrIdx="0">
    <p:extLst>
      <p:ext uri="{19B8F6BF-5375-455C-9EA6-DF929625EA0E}">
        <p15:presenceInfo xmlns:p15="http://schemas.microsoft.com/office/powerpoint/2012/main" userId="TOSHIB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B9C16C-0756-4146-9B25-2152BB9512E5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9007088-D992-48CC-B3BA-A87C0372E8D4}">
      <dgm:prSet phldrT="[Text]"/>
      <dgm:spPr/>
      <dgm:t>
        <a:bodyPr/>
        <a:lstStyle/>
        <a:p>
          <a:r>
            <a:rPr lang="en-US" dirty="0" smtClean="0"/>
            <a:t>1. Major types of mobile apps and their differences</a:t>
          </a:r>
          <a:endParaRPr lang="en-US" dirty="0"/>
        </a:p>
      </dgm:t>
    </dgm:pt>
    <dgm:pt modelId="{E4C55B78-58A4-4CCF-8A7E-B254A51C2C50}" type="parTrans" cxnId="{33959CB5-09BB-4AF4-BE31-FFBD5EEE6BA4}">
      <dgm:prSet/>
      <dgm:spPr/>
      <dgm:t>
        <a:bodyPr/>
        <a:lstStyle/>
        <a:p>
          <a:endParaRPr lang="en-US"/>
        </a:p>
      </dgm:t>
    </dgm:pt>
    <dgm:pt modelId="{C2E92BDE-4270-4FC7-9D93-A6A7420A72A4}" type="sibTrans" cxnId="{33959CB5-09BB-4AF4-BE31-FFBD5EEE6BA4}">
      <dgm:prSet/>
      <dgm:spPr/>
      <dgm:t>
        <a:bodyPr/>
        <a:lstStyle/>
        <a:p>
          <a:endParaRPr lang="en-US"/>
        </a:p>
      </dgm:t>
    </dgm:pt>
    <dgm:pt modelId="{33F828EE-CA93-4F2F-9A07-CFF8BD2E5414}">
      <dgm:prSet phldrT="[Text]"/>
      <dgm:spPr/>
      <dgm:t>
        <a:bodyPr/>
        <a:lstStyle/>
        <a:p>
          <a:r>
            <a:rPr lang="en-US" dirty="0" smtClean="0"/>
            <a:t>2. Mobile app programming languages</a:t>
          </a:r>
          <a:endParaRPr lang="en-US" dirty="0"/>
        </a:p>
      </dgm:t>
    </dgm:pt>
    <dgm:pt modelId="{FDFD41D4-A512-43F8-BF14-91AFBF58EF4E}" type="parTrans" cxnId="{75A391ED-451F-446E-A34F-F205B4C58661}">
      <dgm:prSet/>
      <dgm:spPr/>
      <dgm:t>
        <a:bodyPr/>
        <a:lstStyle/>
        <a:p>
          <a:endParaRPr lang="en-US"/>
        </a:p>
      </dgm:t>
    </dgm:pt>
    <dgm:pt modelId="{0AD17F9A-B83D-44B3-A9A4-ABAFF93DCAE8}" type="sibTrans" cxnId="{75A391ED-451F-446E-A34F-F205B4C58661}">
      <dgm:prSet/>
      <dgm:spPr/>
      <dgm:t>
        <a:bodyPr/>
        <a:lstStyle/>
        <a:p>
          <a:endParaRPr lang="en-US"/>
        </a:p>
      </dgm:t>
    </dgm:pt>
    <dgm:pt modelId="{DF3650B8-DC59-419A-986F-63EE7E5FA9E4}">
      <dgm:prSet phldrT="[Text]"/>
      <dgm:spPr/>
      <dgm:t>
        <a:bodyPr/>
        <a:lstStyle/>
        <a:p>
          <a:r>
            <a:rPr lang="en-US" dirty="0" smtClean="0"/>
            <a:t>3. Mobile app development frameworks</a:t>
          </a:r>
          <a:endParaRPr lang="en-US" dirty="0"/>
        </a:p>
      </dgm:t>
    </dgm:pt>
    <dgm:pt modelId="{E0A2DE88-78A1-4E18-9DD6-D03B353F4F8B}" type="parTrans" cxnId="{5A6AB804-DE0B-46E3-B8E0-4D1565B3946D}">
      <dgm:prSet/>
      <dgm:spPr/>
      <dgm:t>
        <a:bodyPr/>
        <a:lstStyle/>
        <a:p>
          <a:endParaRPr lang="en-US"/>
        </a:p>
      </dgm:t>
    </dgm:pt>
    <dgm:pt modelId="{975161CE-6CAE-430C-BADC-031FC264F940}" type="sibTrans" cxnId="{5A6AB804-DE0B-46E3-B8E0-4D1565B3946D}">
      <dgm:prSet/>
      <dgm:spPr/>
      <dgm:t>
        <a:bodyPr/>
        <a:lstStyle/>
        <a:p>
          <a:endParaRPr lang="en-US"/>
        </a:p>
      </dgm:t>
    </dgm:pt>
    <dgm:pt modelId="{D7CB781F-6CEE-45C2-8A66-CAB0C100E6F5}">
      <dgm:prSet phldrT="[Text]"/>
      <dgm:spPr/>
      <dgm:t>
        <a:bodyPr/>
        <a:lstStyle/>
        <a:p>
          <a:r>
            <a:rPr lang="en-US" dirty="0" smtClean="0"/>
            <a:t>4. Mobile app architectures and design patterns</a:t>
          </a:r>
          <a:endParaRPr lang="en-US" dirty="0"/>
        </a:p>
      </dgm:t>
    </dgm:pt>
    <dgm:pt modelId="{75F3204C-C32C-4E20-A5C1-BEA18A6A7AC9}" type="parTrans" cxnId="{ED975359-047B-4674-B395-22F58FA476E7}">
      <dgm:prSet/>
      <dgm:spPr/>
      <dgm:t>
        <a:bodyPr/>
        <a:lstStyle/>
        <a:p>
          <a:endParaRPr lang="en-US"/>
        </a:p>
      </dgm:t>
    </dgm:pt>
    <dgm:pt modelId="{52CF1006-E0F9-4137-B9D5-38AFC336FA22}" type="sibTrans" cxnId="{ED975359-047B-4674-B395-22F58FA476E7}">
      <dgm:prSet/>
      <dgm:spPr/>
      <dgm:t>
        <a:bodyPr/>
        <a:lstStyle/>
        <a:p>
          <a:endParaRPr lang="en-US"/>
        </a:p>
      </dgm:t>
    </dgm:pt>
    <dgm:pt modelId="{1E40C266-44FA-45B7-8F58-3F7286060D19}" type="pres">
      <dgm:prSet presAssocID="{80B9C16C-0756-4146-9B25-2152BB9512E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6413878-E819-4D5B-87DC-E6643EBB042B}" type="pres">
      <dgm:prSet presAssocID="{39007088-D992-48CC-B3BA-A87C0372E8D4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77C9FC-0C40-47B6-9AAE-3A2C7D8E8AFF}" type="pres">
      <dgm:prSet presAssocID="{C2E92BDE-4270-4FC7-9D93-A6A7420A72A4}" presName="spacer" presStyleCnt="0"/>
      <dgm:spPr/>
    </dgm:pt>
    <dgm:pt modelId="{D38C5B4C-0C0B-4962-86A3-B9F19B365138}" type="pres">
      <dgm:prSet presAssocID="{33F828EE-CA93-4F2F-9A07-CFF8BD2E5414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BC46A4-E56C-474F-B350-1C638B2DF177}" type="pres">
      <dgm:prSet presAssocID="{0AD17F9A-B83D-44B3-A9A4-ABAFF93DCAE8}" presName="spacer" presStyleCnt="0"/>
      <dgm:spPr/>
    </dgm:pt>
    <dgm:pt modelId="{0B495C1C-3986-4CC0-8603-7A14286B1DA7}" type="pres">
      <dgm:prSet presAssocID="{DF3650B8-DC59-419A-986F-63EE7E5FA9E4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7ABAA0-AB21-4373-B81D-4FDE3F15041F}" type="pres">
      <dgm:prSet presAssocID="{975161CE-6CAE-430C-BADC-031FC264F940}" presName="spacer" presStyleCnt="0"/>
      <dgm:spPr/>
    </dgm:pt>
    <dgm:pt modelId="{B2102ED9-A071-4481-B85F-3456637E2B42}" type="pres">
      <dgm:prSet presAssocID="{D7CB781F-6CEE-45C2-8A66-CAB0C100E6F5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3C04C09-F355-4376-94E2-41D3CA5B686C}" type="presOf" srcId="{D7CB781F-6CEE-45C2-8A66-CAB0C100E6F5}" destId="{B2102ED9-A071-4481-B85F-3456637E2B42}" srcOrd="0" destOrd="0" presId="urn:microsoft.com/office/officeart/2005/8/layout/vList2"/>
    <dgm:cxn modelId="{AFC9F4CF-5FD0-4083-9842-8C68630C67F7}" type="presOf" srcId="{80B9C16C-0756-4146-9B25-2152BB9512E5}" destId="{1E40C266-44FA-45B7-8F58-3F7286060D19}" srcOrd="0" destOrd="0" presId="urn:microsoft.com/office/officeart/2005/8/layout/vList2"/>
    <dgm:cxn modelId="{9A37E4C9-9D5F-47EC-A068-70E4534EAF79}" type="presOf" srcId="{DF3650B8-DC59-419A-986F-63EE7E5FA9E4}" destId="{0B495C1C-3986-4CC0-8603-7A14286B1DA7}" srcOrd="0" destOrd="0" presId="urn:microsoft.com/office/officeart/2005/8/layout/vList2"/>
    <dgm:cxn modelId="{75A391ED-451F-446E-A34F-F205B4C58661}" srcId="{80B9C16C-0756-4146-9B25-2152BB9512E5}" destId="{33F828EE-CA93-4F2F-9A07-CFF8BD2E5414}" srcOrd="1" destOrd="0" parTransId="{FDFD41D4-A512-43F8-BF14-91AFBF58EF4E}" sibTransId="{0AD17F9A-B83D-44B3-A9A4-ABAFF93DCAE8}"/>
    <dgm:cxn modelId="{ED975359-047B-4674-B395-22F58FA476E7}" srcId="{80B9C16C-0756-4146-9B25-2152BB9512E5}" destId="{D7CB781F-6CEE-45C2-8A66-CAB0C100E6F5}" srcOrd="3" destOrd="0" parTransId="{75F3204C-C32C-4E20-A5C1-BEA18A6A7AC9}" sibTransId="{52CF1006-E0F9-4137-B9D5-38AFC336FA22}"/>
    <dgm:cxn modelId="{7C9BB5A7-B8D4-4FE4-8C38-B6988F002812}" type="presOf" srcId="{33F828EE-CA93-4F2F-9A07-CFF8BD2E5414}" destId="{D38C5B4C-0C0B-4962-86A3-B9F19B365138}" srcOrd="0" destOrd="0" presId="urn:microsoft.com/office/officeart/2005/8/layout/vList2"/>
    <dgm:cxn modelId="{5A6AB804-DE0B-46E3-B8E0-4D1565B3946D}" srcId="{80B9C16C-0756-4146-9B25-2152BB9512E5}" destId="{DF3650B8-DC59-419A-986F-63EE7E5FA9E4}" srcOrd="2" destOrd="0" parTransId="{E0A2DE88-78A1-4E18-9DD6-D03B353F4F8B}" sibTransId="{975161CE-6CAE-430C-BADC-031FC264F940}"/>
    <dgm:cxn modelId="{D88325BB-3A2E-43A4-9BB2-74DA1551D8DC}" type="presOf" srcId="{39007088-D992-48CC-B3BA-A87C0372E8D4}" destId="{46413878-E819-4D5B-87DC-E6643EBB042B}" srcOrd="0" destOrd="0" presId="urn:microsoft.com/office/officeart/2005/8/layout/vList2"/>
    <dgm:cxn modelId="{33959CB5-09BB-4AF4-BE31-FFBD5EEE6BA4}" srcId="{80B9C16C-0756-4146-9B25-2152BB9512E5}" destId="{39007088-D992-48CC-B3BA-A87C0372E8D4}" srcOrd="0" destOrd="0" parTransId="{E4C55B78-58A4-4CCF-8A7E-B254A51C2C50}" sibTransId="{C2E92BDE-4270-4FC7-9D93-A6A7420A72A4}"/>
    <dgm:cxn modelId="{1F2E21AB-7ECA-4232-9097-4E381F92F0EA}" type="presParOf" srcId="{1E40C266-44FA-45B7-8F58-3F7286060D19}" destId="{46413878-E819-4D5B-87DC-E6643EBB042B}" srcOrd="0" destOrd="0" presId="urn:microsoft.com/office/officeart/2005/8/layout/vList2"/>
    <dgm:cxn modelId="{022A5B2B-ABE4-4306-A7B5-C11C0ABA062C}" type="presParOf" srcId="{1E40C266-44FA-45B7-8F58-3F7286060D19}" destId="{3377C9FC-0C40-47B6-9AAE-3A2C7D8E8AFF}" srcOrd="1" destOrd="0" presId="urn:microsoft.com/office/officeart/2005/8/layout/vList2"/>
    <dgm:cxn modelId="{53B10165-1EF6-40CF-A552-E5588DD24AA7}" type="presParOf" srcId="{1E40C266-44FA-45B7-8F58-3F7286060D19}" destId="{D38C5B4C-0C0B-4962-86A3-B9F19B365138}" srcOrd="2" destOrd="0" presId="urn:microsoft.com/office/officeart/2005/8/layout/vList2"/>
    <dgm:cxn modelId="{FB5B7F36-57BA-452E-B4F3-288DEA3F6E0C}" type="presParOf" srcId="{1E40C266-44FA-45B7-8F58-3F7286060D19}" destId="{79BC46A4-E56C-474F-B350-1C638B2DF177}" srcOrd="3" destOrd="0" presId="urn:microsoft.com/office/officeart/2005/8/layout/vList2"/>
    <dgm:cxn modelId="{0FB9966D-4610-440C-9318-CC69B9F26DC4}" type="presParOf" srcId="{1E40C266-44FA-45B7-8F58-3F7286060D19}" destId="{0B495C1C-3986-4CC0-8603-7A14286B1DA7}" srcOrd="4" destOrd="0" presId="urn:microsoft.com/office/officeart/2005/8/layout/vList2"/>
    <dgm:cxn modelId="{E862E556-D804-4E02-9DD4-F01F526A6C48}" type="presParOf" srcId="{1E40C266-44FA-45B7-8F58-3F7286060D19}" destId="{BD7ABAA0-AB21-4373-B81D-4FDE3F15041F}" srcOrd="5" destOrd="0" presId="urn:microsoft.com/office/officeart/2005/8/layout/vList2"/>
    <dgm:cxn modelId="{98D7C49F-FB3F-4664-8D03-396277E12ACE}" type="presParOf" srcId="{1E40C266-44FA-45B7-8F58-3F7286060D19}" destId="{B2102ED9-A071-4481-B85F-3456637E2B4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C76C60-DDA3-4775-8C04-49EE4BBE5ACF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D5FDBA3-864B-4C0D-999C-7C2907372F46}">
      <dgm:prSet phldrT="[Text]" custT="1"/>
      <dgm:spPr/>
      <dgm:t>
        <a:bodyPr/>
        <a:lstStyle/>
        <a:p>
          <a:r>
            <a:rPr lang="en-US" sz="2800" dirty="0" smtClean="0"/>
            <a:t>6. How to estimate mobile app development cost?</a:t>
          </a:r>
          <a:endParaRPr lang="en-US" sz="2800" dirty="0"/>
        </a:p>
      </dgm:t>
    </dgm:pt>
    <dgm:pt modelId="{0CD50D46-7BF1-4DAE-BFF7-96FD75923DF2}" type="parTrans" cxnId="{C600A509-D8D7-4B6D-9D6F-8F2F8B524592}">
      <dgm:prSet/>
      <dgm:spPr/>
      <dgm:t>
        <a:bodyPr/>
        <a:lstStyle/>
        <a:p>
          <a:endParaRPr lang="en-US"/>
        </a:p>
      </dgm:t>
    </dgm:pt>
    <dgm:pt modelId="{7FCB16F5-0D06-4022-9DF7-0ADD0F5A16C4}" type="sibTrans" cxnId="{C600A509-D8D7-4B6D-9D6F-8F2F8B524592}">
      <dgm:prSet/>
      <dgm:spPr/>
      <dgm:t>
        <a:bodyPr/>
        <a:lstStyle/>
        <a:p>
          <a:endParaRPr lang="en-US"/>
        </a:p>
      </dgm:t>
    </dgm:pt>
    <dgm:pt modelId="{44DEAC40-0F9C-43EA-9986-2EAE3602B48B}">
      <dgm:prSet phldrT="[Text]" custT="1"/>
      <dgm:spPr/>
      <dgm:t>
        <a:bodyPr/>
        <a:lstStyle/>
        <a:p>
          <a:r>
            <a:rPr lang="en-US" sz="2800" dirty="0" smtClean="0"/>
            <a:t>5. How to collect and analyze user requirements for a mobile app?</a:t>
          </a:r>
          <a:endParaRPr lang="en-US" sz="2800" dirty="0"/>
        </a:p>
      </dgm:t>
    </dgm:pt>
    <dgm:pt modelId="{FE1490F1-E102-47D5-9A2D-FA18120D0800}" type="parTrans" cxnId="{F0754EF6-D416-42D7-9F5B-F096AFAA0DA5}">
      <dgm:prSet/>
      <dgm:spPr/>
      <dgm:t>
        <a:bodyPr/>
        <a:lstStyle/>
        <a:p>
          <a:endParaRPr lang="en-US"/>
        </a:p>
      </dgm:t>
    </dgm:pt>
    <dgm:pt modelId="{603B0F88-F278-4E66-BCEB-2E42A29C28E8}" type="sibTrans" cxnId="{F0754EF6-D416-42D7-9F5B-F096AFAA0DA5}">
      <dgm:prSet/>
      <dgm:spPr/>
      <dgm:t>
        <a:bodyPr/>
        <a:lstStyle/>
        <a:p>
          <a:endParaRPr lang="en-US"/>
        </a:p>
      </dgm:t>
    </dgm:pt>
    <dgm:pt modelId="{FB46AFF5-0ADA-4731-9213-18B6853A754E}" type="pres">
      <dgm:prSet presAssocID="{9FC76C60-DDA3-4775-8C04-49EE4BBE5AC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C3668F6-B045-48C6-A418-A0FBCA5BCFCF}" type="pres">
      <dgm:prSet presAssocID="{0D5FDBA3-864B-4C0D-999C-7C2907372F46}" presName="parentText" presStyleLbl="node1" presStyleIdx="0" presStyleCnt="2" custScaleY="58903" custLinFactY="138334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B81EFA-20A4-4123-AC01-C957F5963E9A}" type="pres">
      <dgm:prSet presAssocID="{7FCB16F5-0D06-4022-9DF7-0ADD0F5A16C4}" presName="spacer" presStyleCnt="0"/>
      <dgm:spPr/>
    </dgm:pt>
    <dgm:pt modelId="{82D36EDE-30B4-4D09-A81B-D4236B67772F}" type="pres">
      <dgm:prSet presAssocID="{44DEAC40-0F9C-43EA-9986-2EAE3602B48B}" presName="parentText" presStyleLbl="node1" presStyleIdx="1" presStyleCnt="2" custScaleY="59613" custLinFactY="12086" custLinFactNeighborX="-1286" custLinFactNeighborY="10000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177B469-D216-4EF9-AB15-B95484EF110B}" type="presOf" srcId="{9FC76C60-DDA3-4775-8C04-49EE4BBE5ACF}" destId="{FB46AFF5-0ADA-4731-9213-18B6853A754E}" srcOrd="0" destOrd="0" presId="urn:microsoft.com/office/officeart/2005/8/layout/vList2"/>
    <dgm:cxn modelId="{F0754EF6-D416-42D7-9F5B-F096AFAA0DA5}" srcId="{9FC76C60-DDA3-4775-8C04-49EE4BBE5ACF}" destId="{44DEAC40-0F9C-43EA-9986-2EAE3602B48B}" srcOrd="1" destOrd="0" parTransId="{FE1490F1-E102-47D5-9A2D-FA18120D0800}" sibTransId="{603B0F88-F278-4E66-BCEB-2E42A29C28E8}"/>
    <dgm:cxn modelId="{CEB59A35-6D0F-4ED4-AC40-F5C01FB02920}" type="presOf" srcId="{44DEAC40-0F9C-43EA-9986-2EAE3602B48B}" destId="{82D36EDE-30B4-4D09-A81B-D4236B67772F}" srcOrd="0" destOrd="0" presId="urn:microsoft.com/office/officeart/2005/8/layout/vList2"/>
    <dgm:cxn modelId="{B05E912A-D948-4D51-91C2-9F4AD23DAA9F}" type="presOf" srcId="{0D5FDBA3-864B-4C0D-999C-7C2907372F46}" destId="{7C3668F6-B045-48C6-A418-A0FBCA5BCFCF}" srcOrd="0" destOrd="0" presId="urn:microsoft.com/office/officeart/2005/8/layout/vList2"/>
    <dgm:cxn modelId="{C600A509-D8D7-4B6D-9D6F-8F2F8B524592}" srcId="{9FC76C60-DDA3-4775-8C04-49EE4BBE5ACF}" destId="{0D5FDBA3-864B-4C0D-999C-7C2907372F46}" srcOrd="0" destOrd="0" parTransId="{0CD50D46-7BF1-4DAE-BFF7-96FD75923DF2}" sibTransId="{7FCB16F5-0D06-4022-9DF7-0ADD0F5A16C4}"/>
    <dgm:cxn modelId="{FB0D738E-6DA0-4A47-BCF0-EAEE13919A57}" type="presParOf" srcId="{FB46AFF5-0ADA-4731-9213-18B6853A754E}" destId="{7C3668F6-B045-48C6-A418-A0FBCA5BCFCF}" srcOrd="0" destOrd="0" presId="urn:microsoft.com/office/officeart/2005/8/layout/vList2"/>
    <dgm:cxn modelId="{B6CB968C-5B9E-4B38-80EA-489428A77821}" type="presParOf" srcId="{FB46AFF5-0ADA-4731-9213-18B6853A754E}" destId="{A0B81EFA-20A4-4123-AC01-C957F5963E9A}" srcOrd="1" destOrd="0" presId="urn:microsoft.com/office/officeart/2005/8/layout/vList2"/>
    <dgm:cxn modelId="{EE438810-638D-4AA4-BF1E-BDAC0E28128C}" type="presParOf" srcId="{FB46AFF5-0ADA-4731-9213-18B6853A754E}" destId="{82D36EDE-30B4-4D09-A81B-D4236B67772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413878-E819-4D5B-87DC-E6643EBB042B}">
      <dsp:nvSpPr>
        <dsp:cNvPr id="0" name=""/>
        <dsp:cNvSpPr/>
      </dsp:nvSpPr>
      <dsp:spPr>
        <a:xfrm>
          <a:off x="0" y="797657"/>
          <a:ext cx="8128000" cy="66163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1. Major types of mobile apps and their differences</a:t>
          </a:r>
          <a:endParaRPr lang="en-US" sz="2900" kern="1200" dirty="0"/>
        </a:p>
      </dsp:txBody>
      <dsp:txXfrm>
        <a:off x="32298" y="829955"/>
        <a:ext cx="8063404" cy="597039"/>
      </dsp:txXfrm>
    </dsp:sp>
    <dsp:sp modelId="{D38C5B4C-0C0B-4962-86A3-B9F19B365138}">
      <dsp:nvSpPr>
        <dsp:cNvPr id="0" name=""/>
        <dsp:cNvSpPr/>
      </dsp:nvSpPr>
      <dsp:spPr>
        <a:xfrm>
          <a:off x="0" y="1542811"/>
          <a:ext cx="8128000" cy="66163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2. Mobile app programming languages</a:t>
          </a:r>
          <a:endParaRPr lang="en-US" sz="2900" kern="1200" dirty="0"/>
        </a:p>
      </dsp:txBody>
      <dsp:txXfrm>
        <a:off x="32298" y="1575109"/>
        <a:ext cx="8063404" cy="597039"/>
      </dsp:txXfrm>
    </dsp:sp>
    <dsp:sp modelId="{0B495C1C-3986-4CC0-8603-7A14286B1DA7}">
      <dsp:nvSpPr>
        <dsp:cNvPr id="0" name=""/>
        <dsp:cNvSpPr/>
      </dsp:nvSpPr>
      <dsp:spPr>
        <a:xfrm>
          <a:off x="0" y="2287967"/>
          <a:ext cx="8128000" cy="66163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3. Mobile app development frameworks</a:t>
          </a:r>
          <a:endParaRPr lang="en-US" sz="2900" kern="1200" dirty="0"/>
        </a:p>
      </dsp:txBody>
      <dsp:txXfrm>
        <a:off x="32298" y="2320265"/>
        <a:ext cx="8063404" cy="597039"/>
      </dsp:txXfrm>
    </dsp:sp>
    <dsp:sp modelId="{B2102ED9-A071-4481-B85F-3456637E2B42}">
      <dsp:nvSpPr>
        <dsp:cNvPr id="0" name=""/>
        <dsp:cNvSpPr/>
      </dsp:nvSpPr>
      <dsp:spPr>
        <a:xfrm>
          <a:off x="0" y="3033122"/>
          <a:ext cx="8128000" cy="66163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4. Mobile app architectures and design patterns</a:t>
          </a:r>
          <a:endParaRPr lang="en-US" sz="2900" kern="1200" dirty="0"/>
        </a:p>
      </dsp:txBody>
      <dsp:txXfrm>
        <a:off x="32298" y="3065420"/>
        <a:ext cx="8063404" cy="5970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3668F6-B045-48C6-A418-A0FBCA5BCFCF}">
      <dsp:nvSpPr>
        <dsp:cNvPr id="0" name=""/>
        <dsp:cNvSpPr/>
      </dsp:nvSpPr>
      <dsp:spPr>
        <a:xfrm>
          <a:off x="0" y="3754049"/>
          <a:ext cx="8128000" cy="70570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6. How to estimate mobile app development cost?</a:t>
          </a:r>
          <a:endParaRPr lang="en-US" sz="2800" kern="1200" dirty="0"/>
        </a:p>
      </dsp:txBody>
      <dsp:txXfrm>
        <a:off x="34450" y="3788499"/>
        <a:ext cx="8059100" cy="636805"/>
      </dsp:txXfrm>
    </dsp:sp>
    <dsp:sp modelId="{82D36EDE-30B4-4D09-A81B-D4236B67772F}">
      <dsp:nvSpPr>
        <dsp:cNvPr id="0" name=""/>
        <dsp:cNvSpPr/>
      </dsp:nvSpPr>
      <dsp:spPr>
        <a:xfrm>
          <a:off x="0" y="2947202"/>
          <a:ext cx="8128000" cy="71421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5. How to collect and analyze user requirements for a mobile app?</a:t>
          </a:r>
          <a:endParaRPr lang="en-US" sz="2800" kern="1200" dirty="0"/>
        </a:p>
      </dsp:txBody>
      <dsp:txXfrm>
        <a:off x="34865" y="2982067"/>
        <a:ext cx="8058270" cy="6444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0B90B-39F8-4916-9AE4-5420D987B88A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C2E750-74E1-4471-931A-AD5E09A9E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456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ebp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Cef</a:t>
            </a:r>
            <a:r>
              <a:rPr lang="en-US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 440: Internet programming(j2ee) and mobile programming</a:t>
            </a:r>
            <a:endParaRPr lang="en-US" dirty="0">
              <a:solidFill>
                <a:schemeClr val="bg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dirty="0" smtClean="0">
                <a:solidFill>
                  <a:schemeClr val="bg1">
                    <a:lumMod val="85000"/>
                    <a:lumOff val="15000"/>
                  </a:schemeClr>
                </a:solidFill>
              </a:rPr>
              <a:t>Task 1</a:t>
            </a:r>
            <a:endParaRPr lang="en-US" sz="66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84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Group members</a:t>
            </a:r>
            <a:endParaRPr lang="en-US" sz="5400" dirty="0">
              <a:solidFill>
                <a:schemeClr val="bg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1656652"/>
              </p:ext>
            </p:extLst>
          </p:nvPr>
        </p:nvGraphicFramePr>
        <p:xfrm>
          <a:off x="814839" y="1940334"/>
          <a:ext cx="9906000" cy="2748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2666919679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3302564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331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2000" dirty="0" smtClean="0"/>
                        <a:t>AJAMAH GODLOVE NKEMAJAH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2000" dirty="0" smtClean="0"/>
                        <a:t>FE21A129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131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2000" dirty="0" smtClean="0"/>
                        <a:t>AMABO JOSHUA NGWA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2000" dirty="0" smtClean="0"/>
                        <a:t>FE21A135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426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2000" dirty="0" smtClean="0"/>
                        <a:t>FUKA NEVILLE TENYI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2000" dirty="0" smtClean="0"/>
                        <a:t>FE21A199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27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2000" dirty="0" smtClean="0"/>
                        <a:t>NGOUNG TASSA ALAIN SHIRESS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2000" dirty="0" smtClean="0"/>
                        <a:t>FE21A262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833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2000" dirty="0" smtClean="0"/>
                        <a:t>MBACHAM LOANA NING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2000" dirty="0" smtClean="0"/>
                        <a:t>FE21A228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591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2000" dirty="0" smtClean="0"/>
                        <a:t>NYUYSEVER BORIS DINYUY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2000" dirty="0" smtClean="0"/>
                        <a:t>FE21A295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90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5012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694709799"/>
              </p:ext>
            </p:extLst>
          </p:nvPr>
        </p:nvGraphicFramePr>
        <p:xfrm>
          <a:off x="2005874" y="0"/>
          <a:ext cx="8128000" cy="44924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762104" y="0"/>
            <a:ext cx="37359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CONTENTS</a:t>
            </a:r>
            <a:endParaRPr lang="en-US" sz="4800" dirty="0">
              <a:solidFill>
                <a:schemeClr val="bg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380675891"/>
              </p:ext>
            </p:extLst>
          </p:nvPr>
        </p:nvGraphicFramePr>
        <p:xfrm>
          <a:off x="2005874" y="830998"/>
          <a:ext cx="8128000" cy="5060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742761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6170" y="1490117"/>
            <a:ext cx="5407887" cy="287287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55817" y="-195943"/>
            <a:ext cx="24819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01</a:t>
            </a:r>
            <a:endParaRPr lang="en-US" sz="9600" b="1" dirty="0">
              <a:solidFill>
                <a:schemeClr val="bg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58539" y="1293222"/>
            <a:ext cx="4075611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Def: A mobile application, commonly referred to as a mobile app, is a software program specifically designed to run on mobile devices such as smartphones, tablets, smartwatches, or other handheld devices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The Major types of mobile apps include; </a:t>
            </a:r>
          </a:p>
          <a:p>
            <a:pPr marL="342900" indent="-342900">
              <a:buFont typeface="+mj-lt"/>
              <a:buAutoNum type="alphaUcPeriod"/>
            </a:pPr>
            <a:r>
              <a:rPr lang="en-US" sz="1600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Native Applications (Native apps)</a:t>
            </a:r>
          </a:p>
          <a:p>
            <a:pPr marL="342900" indent="-342900">
              <a:buFont typeface="+mj-lt"/>
              <a:buAutoNum type="alphaUcPeriod"/>
            </a:pPr>
            <a:r>
              <a:rPr lang="en-US" sz="1600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Progressive Web Applications (PWAs) or Web Apps</a:t>
            </a:r>
          </a:p>
          <a:p>
            <a:pPr marL="342900" indent="-342900">
              <a:buFont typeface="+mj-lt"/>
              <a:buAutoNum type="alphaUcPeriod"/>
            </a:pPr>
            <a:r>
              <a:rPr lang="en-US" sz="1600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Hybrid Application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We will compare their;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600" b="1" dirty="0" err="1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Properites</a:t>
            </a:r>
            <a:endParaRPr lang="en-US" sz="1600" b="1" dirty="0" smtClean="0">
              <a:solidFill>
                <a:schemeClr val="bg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  <a:p>
            <a:pPr marL="400050" indent="-400050">
              <a:buFont typeface="+mj-lt"/>
              <a:buAutoNum type="romanLcPeriod"/>
            </a:pPr>
            <a:r>
              <a:rPr lang="en-US" sz="1600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Performance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600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User experience in the various apps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600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Access to features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600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Distribution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600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Development and cost-platform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600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Examples of apps</a:t>
            </a:r>
          </a:p>
          <a:p>
            <a:pPr marL="400050" indent="-400050">
              <a:buFont typeface="+mj-lt"/>
              <a:buAutoNum type="romanL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820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24" t="19856" r="-365" b="23809"/>
          <a:stretch/>
        </p:blipFill>
        <p:spPr>
          <a:xfrm>
            <a:off x="7289074" y="1293223"/>
            <a:ext cx="4781006" cy="3187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51760" y="102386"/>
            <a:ext cx="23251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02</a:t>
            </a:r>
            <a:endParaRPr lang="en-US" sz="9600" b="1" dirty="0">
              <a:solidFill>
                <a:schemeClr val="bg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20239" y="1802674"/>
            <a:ext cx="378822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-DEF: What is a programming language?</a:t>
            </a:r>
          </a:p>
          <a:p>
            <a:r>
              <a:rPr lang="en-US" sz="20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Some of the most popular and best programming languages are;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Java: Cross-platform (Android, Desktop, web)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 err="1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Kotlin</a:t>
            </a:r>
            <a:r>
              <a:rPr lang="en-US" sz="20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: 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Cross-platform (Android, Desktop, web</a:t>
            </a:r>
            <a:r>
              <a:rPr lang="en-US" sz="20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Swift: iOS, </a:t>
            </a:r>
            <a:r>
              <a:rPr lang="en-US" sz="2000" dirty="0" err="1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macOS</a:t>
            </a:r>
            <a:r>
              <a:rPr lang="en-US" sz="20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, </a:t>
            </a:r>
            <a:r>
              <a:rPr lang="en-US" sz="2000" dirty="0" err="1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tvOS</a:t>
            </a:r>
            <a:r>
              <a:rPr lang="en-US" sz="20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, </a:t>
            </a:r>
            <a:r>
              <a:rPr lang="en-US" sz="2000" dirty="0" err="1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watchOS</a:t>
            </a:r>
            <a:endParaRPr lang="en-US" sz="2000" dirty="0" smtClean="0">
              <a:solidFill>
                <a:schemeClr val="bg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Objective-C: iOS, </a:t>
            </a:r>
            <a:r>
              <a:rPr lang="en-US" sz="2000" dirty="0" err="1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macOS</a:t>
            </a:r>
            <a:endParaRPr lang="en-US" sz="2000" dirty="0" smtClean="0">
              <a:solidFill>
                <a:schemeClr val="bg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 err="1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Javascript</a:t>
            </a:r>
            <a:r>
              <a:rPr lang="en-US" sz="20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: Web</a:t>
            </a:r>
            <a:endParaRPr lang="en-US" sz="2000" dirty="0">
              <a:solidFill>
                <a:schemeClr val="bg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97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3" t="11086" r="5330" b="7314"/>
          <a:stretch/>
        </p:blipFill>
        <p:spPr>
          <a:xfrm>
            <a:off x="5747657" y="1449977"/>
            <a:ext cx="6322423" cy="3108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51314" y="-261257"/>
            <a:ext cx="24166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03</a:t>
            </a:r>
            <a:endParaRPr lang="en-US" sz="9600" b="1" dirty="0">
              <a:solidFill>
                <a:schemeClr val="bg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93223" y="1776549"/>
            <a:ext cx="373597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-DEF: What is a Software Framework?</a:t>
            </a:r>
          </a:p>
          <a:p>
            <a:r>
              <a:rPr lang="en-US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Some popular mobile app development frameworks include;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React </a:t>
            </a: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Native: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 </a:t>
            </a:r>
          </a:p>
          <a:p>
            <a:pPr lvl="0" fontAlgn="base"/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Language: JavaScript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Xamarin</a:t>
            </a: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: </a:t>
            </a:r>
            <a:endParaRPr lang="en-US" dirty="0">
              <a:solidFill>
                <a:schemeClr val="bg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  <a:p>
            <a:pPr lvl="0" fontAlgn="base"/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Language: C# </a:t>
            </a:r>
            <a:r>
              <a:rPr lang="en-US" b="1" strike="sngStrike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 </a:t>
            </a:r>
            <a:endParaRPr lang="en-US" strike="sngStrike" dirty="0">
              <a:solidFill>
                <a:schemeClr val="bg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  <a:p>
            <a:pPr marL="285750" lvl="0" indent="-285750" fontAlgn="base"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Ionic:</a:t>
            </a:r>
            <a:endParaRPr lang="en-US" b="1" dirty="0">
              <a:solidFill>
                <a:schemeClr val="bg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  <a:p>
            <a:pPr lvl="0" fontAlgn="base"/>
            <a:r>
              <a:rPr lang="en-US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Language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: HTML, CSS, JavaScript/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TypeScript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Flutter:</a:t>
            </a:r>
          </a:p>
          <a:p>
            <a:r>
              <a:rPr lang="en-US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Language: Dart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err="1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SwiftUI</a:t>
            </a:r>
            <a:r>
              <a:rPr lang="en-US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:</a:t>
            </a:r>
          </a:p>
          <a:p>
            <a:r>
              <a:rPr lang="en-US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Language: Swift</a:t>
            </a:r>
            <a:endParaRPr lang="en-US" dirty="0">
              <a:solidFill>
                <a:schemeClr val="bg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17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11680" y="-261257"/>
            <a:ext cx="18549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04</a:t>
            </a:r>
            <a:endParaRPr lang="en-US" sz="9600" b="1" dirty="0">
              <a:solidFill>
                <a:schemeClr val="bg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7685" y="1118609"/>
            <a:ext cx="348778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-DEF: What are mobile application architectures and design patterns?</a:t>
            </a:r>
          </a:p>
          <a:p>
            <a:r>
              <a:rPr lang="en-US" sz="20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Some commonly used </a:t>
            </a:r>
            <a:r>
              <a:rPr lang="en-US" sz="2000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mobile application architectures and design </a:t>
            </a:r>
            <a:r>
              <a:rPr lang="en-US" sz="20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patterns are;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Model-View-Control (MVC)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Mobile-View-Presenter (MVP)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Mobile-View-</a:t>
            </a:r>
            <a:r>
              <a:rPr lang="en-US" sz="2000" dirty="0" err="1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ViewModel</a:t>
            </a:r>
            <a:r>
              <a:rPr lang="en-US" sz="20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 (MVVM)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Clean Architecture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Flux/</a:t>
            </a:r>
            <a:r>
              <a:rPr lang="en-US" sz="2000" dirty="0" err="1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Redux</a:t>
            </a:r>
            <a:endParaRPr lang="en-US" sz="2000" dirty="0" smtClean="0">
              <a:solidFill>
                <a:schemeClr val="bg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Dependency Injection (DI)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Singleton……</a:t>
            </a:r>
            <a:r>
              <a:rPr lang="en-US" sz="2000" dirty="0" err="1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etc</a:t>
            </a:r>
            <a:endParaRPr lang="en-US" sz="2000" dirty="0">
              <a:solidFill>
                <a:schemeClr val="bg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331" y="176423"/>
            <a:ext cx="6726033" cy="32982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1246" y="3749041"/>
            <a:ext cx="4893400" cy="284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689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3749" y="-352697"/>
            <a:ext cx="20378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05</a:t>
            </a:r>
            <a:endParaRPr lang="en-US" sz="9600" b="1" dirty="0">
              <a:solidFill>
                <a:schemeClr val="bg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3405" y="948690"/>
            <a:ext cx="394498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-</a:t>
            </a:r>
            <a:r>
              <a:rPr lang="en-US" b="1" u="sng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DEF: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 What is Requirement Engineering?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Some of the stages </a:t>
            </a:r>
            <a:r>
              <a:rPr lang="en-US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of collection 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for Requirement Engineering include;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Identify Stakeholders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Gather User Requirements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Prioritize Requirements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Define Functional and Non-functional Requirements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Validate and Verify Requirements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Document Requirements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Manage Requirements Changes</a:t>
            </a:r>
          </a:p>
          <a:p>
            <a:r>
              <a:rPr lang="en-US" b="1" u="sng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AIM</a:t>
            </a:r>
          </a:p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Effective requirement engineering ensures that the mobile application aligns with user expectations and business goals.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5"/>
          <a:stretch/>
        </p:blipFill>
        <p:spPr>
          <a:xfrm>
            <a:off x="5878284" y="523573"/>
            <a:ext cx="6048103" cy="579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904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21132" y="-184996"/>
            <a:ext cx="23251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06</a:t>
            </a:r>
            <a:endParaRPr lang="en-US" sz="9600" b="1" dirty="0">
              <a:solidFill>
                <a:schemeClr val="bg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1156" y="1193289"/>
            <a:ext cx="3892731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-DEF: What the estimation of mobile app development cost refers to?</a:t>
            </a:r>
          </a:p>
          <a:p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Some steps in estimating mobile app development cost;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Define Project Scope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Identify Resource Requirements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Break Down Tasks and Effort Estimation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Consider Design and User Experience (UX)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Account for Backend Development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Evaluate Third-Party Integrations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Consider Testing and Quality Assurance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Include Project Management and Communication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Factor in Additional Costs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Research Market Rates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Adjust for Contingencies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7"/>
          <a:stretch/>
        </p:blipFill>
        <p:spPr>
          <a:xfrm>
            <a:off x="5225143" y="352697"/>
            <a:ext cx="6858000" cy="515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067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0138" y="1567542"/>
            <a:ext cx="74066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 smtClean="0">
                <a:solidFill>
                  <a:schemeClr val="bg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THANK YOU FOR YOUR KEEN ATTENTION</a:t>
            </a:r>
            <a:endParaRPr lang="en-US" sz="7200" b="1" dirty="0">
              <a:solidFill>
                <a:schemeClr val="bg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061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1087</TotalTime>
  <Words>468</Words>
  <Application>Microsoft Office PowerPoint</Application>
  <PresentationFormat>Widescreen</PresentationFormat>
  <Paragraphs>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Arial Rounded MT Bold</vt:lpstr>
      <vt:lpstr>Calibri</vt:lpstr>
      <vt:lpstr>Copperplate Gothic Bold</vt:lpstr>
      <vt:lpstr>Courier New</vt:lpstr>
      <vt:lpstr>Trebuchet MS</vt:lpstr>
      <vt:lpstr>Tw Cen MT</vt:lpstr>
      <vt:lpstr>Wingdings</vt:lpstr>
      <vt:lpstr>Circuit</vt:lpstr>
      <vt:lpstr>Cef 440: Internet programming(j2ee) and mobile programming</vt:lpstr>
      <vt:lpstr>Group members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Cef 440: Internet programming(j2ee) and mobile programming</dc:title>
  <dc:creator>TOSHIBA</dc:creator>
  <cp:lastModifiedBy>TOSHIBA</cp:lastModifiedBy>
  <cp:revision>37</cp:revision>
  <dcterms:created xsi:type="dcterms:W3CDTF">2024-03-31T10:05:15Z</dcterms:created>
  <dcterms:modified xsi:type="dcterms:W3CDTF">2024-04-01T08:22:51Z</dcterms:modified>
</cp:coreProperties>
</file>